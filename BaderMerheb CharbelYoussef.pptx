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12.jpg" ContentType="image/jpg"/>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71" r:id="rId5"/>
    <p:sldId id="261" r:id="rId6"/>
    <p:sldId id="262" r:id="rId7"/>
    <p:sldId id="263" r:id="rId8"/>
    <p:sldId id="267" r:id="rId9"/>
    <p:sldId id="270"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7127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65A32-80C3-E5A1-5DF0-92E56315F1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1ABC69-25C2-F8E0-B559-08D1C302E22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11D3450-3E28-88E3-0644-DDB58394CA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AA17DE-9B4D-568C-C27C-E4C00A932798}"/>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452182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282055"/>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6.jpe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jpg"/><Relationship Id="rId10" Type="http://schemas.openxmlformats.org/officeDocument/2006/relationships/image" Target="../media/image4.png"/><Relationship Id="rId4" Type="http://schemas.openxmlformats.org/officeDocument/2006/relationships/image" Target="../media/image11.png"/><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95495" y="2641322"/>
            <a:ext cx="3353009" cy="405047"/>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1296" dirty="0">
                <a:solidFill>
                  <a:srgbClr val="FFFFFF"/>
                </a:solidFill>
                <a:latin typeface="Noto Sans" pitchFamily="34" charset="0"/>
                <a:ea typeface="Noto Sans" pitchFamily="34" charset="-122"/>
                <a:cs typeface="Noto Sans" pitchFamily="34" charset="-120"/>
              </a:rPr>
              <a:t>By: Bader Merheb &amp; Charbel Youssef</a:t>
            </a:r>
            <a:endParaRPr lang="en-US" sz="1440" dirty="0"/>
          </a:p>
        </p:txBody>
      </p:sp>
      <p:sp>
        <p:nvSpPr>
          <p:cNvPr id="3" name="Shape 1"/>
          <p:cNvSpPr/>
          <p:nvPr/>
        </p:nvSpPr>
        <p:spPr>
          <a:xfrm>
            <a:off x="2425148" y="2105978"/>
            <a:ext cx="4293704" cy="0"/>
          </a:xfrm>
          <a:custGeom>
            <a:avLst/>
            <a:gdLst/>
            <a:ahLst/>
            <a:cxnLst/>
            <a:rect l="l" t="t" r="r" b="b"/>
            <a:pathLst>
              <a:path w="4293704">
                <a:moveTo>
                  <a:pt x="0" y="0"/>
                </a:moveTo>
                <a:moveTo>
                  <a:pt x="0" y="0"/>
                </a:moveTo>
                <a:lnTo>
                  <a:pt x="4293704" y="0"/>
                </a:lnTo>
              </a:path>
            </a:pathLst>
          </a:custGeom>
          <a:noFill/>
          <a:ln w="9525">
            <a:solidFill>
              <a:srgbClr val="EED7FF">
                <a:alpha val="21961"/>
              </a:srgbClr>
            </a:solidFill>
            <a:prstDash val="solid"/>
            <a:headEnd type="none"/>
            <a:tailEnd type="none"/>
          </a:ln>
        </p:spPr>
        <p:txBody>
          <a:bodyPr/>
          <a:lstStyle/>
          <a:p>
            <a:endParaRPr lang="en-US"/>
          </a:p>
        </p:txBody>
      </p:sp>
      <p:sp>
        <p:nvSpPr>
          <p:cNvPr id="4" name="Text 2"/>
          <p:cNvSpPr/>
          <p:nvPr/>
        </p:nvSpPr>
        <p:spPr>
          <a:xfrm>
            <a:off x="432664" y="1339845"/>
            <a:ext cx="8278672" cy="658368"/>
          </a:xfrm>
          <a:prstGeom prst="rect">
            <a:avLst/>
          </a:prstGeom>
          <a:noFill/>
          <a:ln/>
        </p:spPr>
        <p:txBody>
          <a:bodyPr wrap="square" lIns="95250" tIns="95250" rIns="95250" bIns="95250" rtlCol="0" anchor="b"/>
          <a:lstStyle/>
          <a:p>
            <a:pPr marL="0" indent="0" algn="ctr">
              <a:lnSpc>
                <a:spcPct val="100000"/>
              </a:lnSpc>
              <a:spcBef>
                <a:spcPts val="375"/>
              </a:spcBef>
              <a:buNone/>
            </a:pPr>
            <a:r>
              <a:rPr lang="en-US" sz="3456" b="1" kern="0" spc="72" dirty="0">
                <a:solidFill>
                  <a:srgbClr val="FFFFFF"/>
                </a:solidFill>
                <a:latin typeface="Noto Sans" pitchFamily="34" charset="0"/>
                <a:ea typeface="Noto Sans" pitchFamily="34" charset="-122"/>
                <a:cs typeface="Noto Sans" pitchFamily="34" charset="-120"/>
              </a:rPr>
              <a:t>LikeMinded</a:t>
            </a:r>
            <a:endParaRPr lang="en-US" sz="1440" dirty="0"/>
          </a:p>
        </p:txBody>
      </p:sp>
      <p:sp>
        <p:nvSpPr>
          <p:cNvPr id="5" name="Text 3"/>
          <p:cNvSpPr/>
          <p:nvPr/>
        </p:nvSpPr>
        <p:spPr>
          <a:xfrm>
            <a:off x="0" y="2144517"/>
            <a:ext cx="9144000" cy="458267"/>
          </a:xfrm>
          <a:prstGeom prst="rect">
            <a:avLst/>
          </a:prstGeom>
          <a:noFill/>
          <a:ln/>
        </p:spPr>
        <p:txBody>
          <a:bodyPr wrap="square" lIns="95250" tIns="95250" rIns="95250" bIns="95250" rtlCol="0" anchor="t">
            <a:spAutoFit/>
          </a:bodyPr>
          <a:lstStyle/>
          <a:p>
            <a:pPr marL="0" indent="0" algn="ctr">
              <a:lnSpc>
                <a:spcPct val="100000"/>
              </a:lnSpc>
              <a:spcBef>
                <a:spcPts val="375"/>
              </a:spcBef>
              <a:buNone/>
            </a:pPr>
            <a:r>
              <a:rPr lang="en-US" sz="1728" dirty="0">
                <a:solidFill>
                  <a:srgbClr val="C560FF"/>
                </a:solidFill>
                <a:latin typeface="Noto Sans" pitchFamily="34" charset="0"/>
                <a:ea typeface="Noto Sans" pitchFamily="34" charset="-122"/>
                <a:cs typeface="Noto Sans" pitchFamily="34" charset="-120"/>
              </a:rPr>
              <a:t>Personality-Based Matching Platform</a:t>
            </a:r>
            <a:endParaRPr lang="en-US" sz="144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674081" y="370173"/>
            <a:ext cx="3857842" cy="854145"/>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4032" b="1" dirty="0">
                <a:solidFill>
                  <a:srgbClr val="6764FB"/>
                </a:solidFill>
                <a:latin typeface="Noto Sans" pitchFamily="34" charset="0"/>
                <a:ea typeface="Noto Sans" pitchFamily="34" charset="-122"/>
                <a:cs typeface="Noto Sans" pitchFamily="34" charset="-120"/>
              </a:rPr>
              <a:t>Overview</a:t>
            </a:r>
            <a:endParaRPr lang="en-US" sz="1440" dirty="0"/>
          </a:p>
        </p:txBody>
      </p:sp>
      <p:sp>
        <p:nvSpPr>
          <p:cNvPr id="3" name="Text 1"/>
          <p:cNvSpPr/>
          <p:nvPr/>
        </p:nvSpPr>
        <p:spPr>
          <a:xfrm>
            <a:off x="1267052" y="1757510"/>
            <a:ext cx="3335950" cy="429768"/>
          </a:xfrm>
          <a:prstGeom prst="rect">
            <a:avLst/>
          </a:prstGeom>
          <a:noFill/>
          <a:ln/>
        </p:spPr>
        <p:txBody>
          <a:bodyPr wrap="square" lIns="95250" tIns="95250" rIns="95250" bIns="95250" rtlCol="0" anchor="ctr"/>
          <a:lstStyle/>
          <a:p>
            <a:pPr marL="0" indent="0">
              <a:lnSpc>
                <a:spcPct val="100000"/>
              </a:lnSpc>
              <a:spcBef>
                <a:spcPts val="375"/>
              </a:spcBef>
              <a:buNone/>
            </a:pPr>
            <a:r>
              <a:rPr lang="en-US" sz="1584" dirty="0">
                <a:solidFill>
                  <a:srgbClr val="FFFFFF"/>
                </a:solidFill>
                <a:latin typeface="Noto Sans" pitchFamily="34" charset="0"/>
                <a:ea typeface="Noto Sans" pitchFamily="34" charset="-122"/>
                <a:cs typeface="Noto Sans" pitchFamily="34" charset="-120"/>
              </a:rPr>
              <a:t>What is LikeMinded and</a:t>
            </a:r>
          </a:p>
          <a:p>
            <a:pPr marL="0" indent="0">
              <a:lnSpc>
                <a:spcPct val="100000"/>
              </a:lnSpc>
              <a:spcBef>
                <a:spcPts val="375"/>
              </a:spcBef>
              <a:buNone/>
            </a:pPr>
            <a:r>
              <a:rPr lang="en-US" sz="1584" dirty="0">
                <a:solidFill>
                  <a:srgbClr val="FFFFFF"/>
                </a:solidFill>
                <a:latin typeface="Noto Sans" pitchFamily="34" charset="0"/>
                <a:ea typeface="Noto Sans" pitchFamily="34" charset="-122"/>
                <a:cs typeface="Noto Sans" pitchFamily="34" charset="-120"/>
              </a:rPr>
              <a:t>Why was it built?</a:t>
            </a:r>
            <a:endParaRPr lang="en-US" sz="1440" dirty="0"/>
          </a:p>
        </p:txBody>
      </p:sp>
      <p:sp>
        <p:nvSpPr>
          <p:cNvPr id="4" name="Text 2"/>
          <p:cNvSpPr/>
          <p:nvPr/>
        </p:nvSpPr>
        <p:spPr>
          <a:xfrm>
            <a:off x="707833" y="1625624"/>
            <a:ext cx="713232" cy="64008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304" b="1" dirty="0">
                <a:solidFill>
                  <a:srgbClr val="6764FB"/>
                </a:solidFill>
                <a:latin typeface="Noto Sans" pitchFamily="34" charset="0"/>
                <a:ea typeface="Noto Sans" pitchFamily="34" charset="-122"/>
                <a:cs typeface="Noto Sans" pitchFamily="34" charset="-120"/>
              </a:rPr>
              <a:t>01</a:t>
            </a:r>
            <a:endParaRPr lang="en-US" sz="1440" dirty="0"/>
          </a:p>
        </p:txBody>
      </p:sp>
      <p:sp>
        <p:nvSpPr>
          <p:cNvPr id="5" name="Text 3"/>
          <p:cNvSpPr/>
          <p:nvPr/>
        </p:nvSpPr>
        <p:spPr>
          <a:xfrm>
            <a:off x="1267052" y="2956223"/>
            <a:ext cx="3335950" cy="402336"/>
          </a:xfrm>
          <a:prstGeom prst="rect">
            <a:avLst/>
          </a:prstGeom>
          <a:noFill/>
          <a:ln/>
        </p:spPr>
        <p:txBody>
          <a:bodyPr wrap="square" lIns="95250" tIns="95250" rIns="95250" bIns="95250" rtlCol="0" anchor="ctr"/>
          <a:lstStyle/>
          <a:p>
            <a:pPr marL="0" indent="0">
              <a:lnSpc>
                <a:spcPct val="100000"/>
              </a:lnSpc>
              <a:spcBef>
                <a:spcPts val="375"/>
              </a:spcBef>
              <a:buNone/>
            </a:pPr>
            <a:r>
              <a:rPr lang="en-US" sz="1584" dirty="0">
                <a:solidFill>
                  <a:srgbClr val="FFFFFF"/>
                </a:solidFill>
                <a:latin typeface="Noto Sans" pitchFamily="34" charset="0"/>
                <a:ea typeface="Noto Sans" pitchFamily="34" charset="-122"/>
                <a:cs typeface="Noto Sans" pitchFamily="34" charset="-120"/>
              </a:rPr>
              <a:t>Quick Demo</a:t>
            </a:r>
            <a:endParaRPr lang="en-US" sz="1440" dirty="0"/>
          </a:p>
        </p:txBody>
      </p:sp>
      <p:sp>
        <p:nvSpPr>
          <p:cNvPr id="6" name="Text 4"/>
          <p:cNvSpPr/>
          <p:nvPr/>
        </p:nvSpPr>
        <p:spPr>
          <a:xfrm>
            <a:off x="708832" y="2837351"/>
            <a:ext cx="713232" cy="64008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304" b="1" dirty="0">
                <a:solidFill>
                  <a:srgbClr val="6764FB"/>
                </a:solidFill>
                <a:latin typeface="Noto Sans" pitchFamily="34" charset="0"/>
                <a:ea typeface="Noto Sans" pitchFamily="34" charset="-122"/>
                <a:cs typeface="Noto Sans" pitchFamily="34" charset="-120"/>
              </a:rPr>
              <a:t>02</a:t>
            </a:r>
            <a:endParaRPr lang="en-US" sz="1440" dirty="0"/>
          </a:p>
        </p:txBody>
      </p:sp>
      <p:sp>
        <p:nvSpPr>
          <p:cNvPr id="7" name="Text 5"/>
          <p:cNvSpPr/>
          <p:nvPr/>
        </p:nvSpPr>
        <p:spPr>
          <a:xfrm>
            <a:off x="5099303" y="1743795"/>
            <a:ext cx="3335471" cy="402336"/>
          </a:xfrm>
          <a:prstGeom prst="rect">
            <a:avLst/>
          </a:prstGeom>
          <a:noFill/>
          <a:ln/>
        </p:spPr>
        <p:txBody>
          <a:bodyPr wrap="square" lIns="95250" tIns="95250" rIns="95250" bIns="95250" rtlCol="0" anchor="ctr"/>
          <a:lstStyle/>
          <a:p>
            <a:pPr marL="0" indent="0">
              <a:lnSpc>
                <a:spcPct val="100000"/>
              </a:lnSpc>
              <a:spcBef>
                <a:spcPts val="375"/>
              </a:spcBef>
              <a:buNone/>
            </a:pPr>
            <a:r>
              <a:rPr lang="en-US" sz="1584" dirty="0">
                <a:solidFill>
                  <a:srgbClr val="FFFFFF"/>
                </a:solidFill>
                <a:latin typeface="Noto Sans" pitchFamily="34" charset="0"/>
                <a:ea typeface="Noto Sans" pitchFamily="34" charset="-122"/>
                <a:cs typeface="Noto Sans" pitchFamily="34" charset="-120"/>
              </a:rPr>
              <a:t>Architecture &amp; Technology Stack</a:t>
            </a:r>
            <a:endParaRPr lang="en-US" sz="1440" dirty="0"/>
          </a:p>
        </p:txBody>
      </p:sp>
      <p:sp>
        <p:nvSpPr>
          <p:cNvPr id="8" name="Text 6"/>
          <p:cNvSpPr/>
          <p:nvPr/>
        </p:nvSpPr>
        <p:spPr>
          <a:xfrm>
            <a:off x="4540169" y="1630899"/>
            <a:ext cx="713232" cy="64008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304" b="1" dirty="0">
                <a:solidFill>
                  <a:srgbClr val="6764FB"/>
                </a:solidFill>
                <a:latin typeface="Noto Sans" pitchFamily="34" charset="0"/>
                <a:ea typeface="Noto Sans" pitchFamily="34" charset="-122"/>
                <a:cs typeface="Noto Sans" pitchFamily="34" charset="-120"/>
              </a:rPr>
              <a:t>03</a:t>
            </a:r>
            <a:endParaRPr lang="en-US" sz="1440" dirty="0"/>
          </a:p>
        </p:txBody>
      </p:sp>
      <p:sp>
        <p:nvSpPr>
          <p:cNvPr id="9" name="Text 5">
            <a:extLst>
              <a:ext uri="{FF2B5EF4-FFF2-40B4-BE49-F238E27FC236}">
                <a16:creationId xmlns:a16="http://schemas.microsoft.com/office/drawing/2014/main" id="{BEE2A143-D6E6-4142-5779-671FB7504CDA}"/>
              </a:ext>
            </a:extLst>
          </p:cNvPr>
          <p:cNvSpPr/>
          <p:nvPr/>
        </p:nvSpPr>
        <p:spPr>
          <a:xfrm>
            <a:off x="5099303" y="2959292"/>
            <a:ext cx="3335471" cy="402336"/>
          </a:xfrm>
          <a:prstGeom prst="rect">
            <a:avLst/>
          </a:prstGeom>
          <a:noFill/>
          <a:ln/>
        </p:spPr>
        <p:txBody>
          <a:bodyPr wrap="square" lIns="95250" tIns="95250" rIns="95250" bIns="95250" rtlCol="0" anchor="ctr"/>
          <a:lstStyle/>
          <a:p>
            <a:pPr marL="0" indent="0">
              <a:lnSpc>
                <a:spcPct val="100000"/>
              </a:lnSpc>
              <a:spcBef>
                <a:spcPts val="375"/>
              </a:spcBef>
              <a:buNone/>
            </a:pPr>
            <a:r>
              <a:rPr lang="en-US" sz="1584" dirty="0">
                <a:solidFill>
                  <a:srgbClr val="FFFFFF"/>
                </a:solidFill>
                <a:latin typeface="Noto Sans" pitchFamily="34" charset="0"/>
                <a:ea typeface="Noto Sans" pitchFamily="34" charset="-122"/>
                <a:cs typeface="Noto Sans" pitchFamily="34" charset="-120"/>
              </a:rPr>
              <a:t>Challenges</a:t>
            </a:r>
            <a:endParaRPr lang="en-US" sz="1440" dirty="0"/>
          </a:p>
        </p:txBody>
      </p:sp>
      <p:sp>
        <p:nvSpPr>
          <p:cNvPr id="10" name="Text 6">
            <a:extLst>
              <a:ext uri="{FF2B5EF4-FFF2-40B4-BE49-F238E27FC236}">
                <a16:creationId xmlns:a16="http://schemas.microsoft.com/office/drawing/2014/main" id="{7D5C25D3-2FF7-905C-C482-E883DF4ED557}"/>
              </a:ext>
            </a:extLst>
          </p:cNvPr>
          <p:cNvSpPr/>
          <p:nvPr/>
        </p:nvSpPr>
        <p:spPr>
          <a:xfrm>
            <a:off x="4540169" y="2846396"/>
            <a:ext cx="713232" cy="570541"/>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304" b="1" dirty="0">
                <a:solidFill>
                  <a:srgbClr val="6764FB"/>
                </a:solidFill>
                <a:latin typeface="Noto Sans" pitchFamily="34" charset="0"/>
                <a:ea typeface="Noto Sans" pitchFamily="34" charset="-122"/>
                <a:cs typeface="Noto Sans" pitchFamily="34" charset="-120"/>
              </a:rPr>
              <a:t>04</a:t>
            </a:r>
            <a:endParaRPr lang="en-US" sz="1440"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63370" y="1560852"/>
            <a:ext cx="5221112" cy="59125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2592" b="1" dirty="0">
                <a:solidFill>
                  <a:srgbClr val="6764FB"/>
                </a:solidFill>
                <a:latin typeface="Noto Sans" pitchFamily="34" charset="0"/>
                <a:ea typeface="Noto Sans" pitchFamily="34" charset="-122"/>
                <a:cs typeface="Noto Sans" pitchFamily="34" charset="-120"/>
              </a:rPr>
              <a:t>What is LikeMinded?</a:t>
            </a:r>
            <a:endParaRPr lang="en-US" sz="1440" dirty="0"/>
          </a:p>
        </p:txBody>
      </p:sp>
      <p:pic>
        <p:nvPicPr>
          <p:cNvPr id="3" name="Image 0" descr="preencoded.png"/>
          <p:cNvPicPr>
            <a:picLocks noChangeAspect="1"/>
          </p:cNvPicPr>
          <p:nvPr/>
        </p:nvPicPr>
        <p:blipFill>
          <a:blip r:embed="rId4"/>
          <a:stretch>
            <a:fillRect/>
          </a:stretch>
        </p:blipFill>
        <p:spPr>
          <a:xfrm>
            <a:off x="463370" y="438260"/>
            <a:ext cx="914028" cy="914028"/>
          </a:xfrm>
          <a:prstGeom prst="rect">
            <a:avLst/>
          </a:prstGeom>
        </p:spPr>
      </p:pic>
      <p:sp>
        <p:nvSpPr>
          <p:cNvPr id="4" name="Text 1"/>
          <p:cNvSpPr/>
          <p:nvPr/>
        </p:nvSpPr>
        <p:spPr>
          <a:xfrm>
            <a:off x="242062" y="448795"/>
            <a:ext cx="1356643" cy="83042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3888" b="1" dirty="0">
                <a:solidFill>
                  <a:srgbClr val="C560FF"/>
                </a:solidFill>
                <a:latin typeface="Noto Sans" pitchFamily="34" charset="0"/>
                <a:ea typeface="Noto Sans" pitchFamily="34" charset="-122"/>
                <a:cs typeface="Noto Sans" pitchFamily="34" charset="-120"/>
              </a:rPr>
              <a:t>1.a</a:t>
            </a:r>
            <a:endParaRPr lang="en-US" sz="1440" dirty="0"/>
          </a:p>
        </p:txBody>
      </p:sp>
      <p:sp>
        <p:nvSpPr>
          <p:cNvPr id="5" name="TextBox 4">
            <a:extLst>
              <a:ext uri="{FF2B5EF4-FFF2-40B4-BE49-F238E27FC236}">
                <a16:creationId xmlns:a16="http://schemas.microsoft.com/office/drawing/2014/main" id="{9802B713-7EB7-2632-FE30-A4EE1DCCD9F4}"/>
              </a:ext>
            </a:extLst>
          </p:cNvPr>
          <p:cNvSpPr txBox="1"/>
          <p:nvPr/>
        </p:nvSpPr>
        <p:spPr>
          <a:xfrm>
            <a:off x="607423" y="2152104"/>
            <a:ext cx="4911634" cy="2585323"/>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rPr>
              <a:t>Personality-Based dating platform</a:t>
            </a:r>
          </a:p>
          <a:p>
            <a:pPr marL="285750" indent="-285750">
              <a:buFont typeface="Arial" panose="020B0604020202020204" pitchFamily="34" charset="0"/>
              <a:buChar char="•"/>
            </a:pPr>
            <a:endPar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endParaRPr>
          </a:p>
          <a:p>
            <a:pPr marL="285750" indent="-285750">
              <a:buFont typeface="Arial" panose="020B0604020202020204" pitchFamily="34" charset="0"/>
              <a:buChar char="•"/>
            </a:pPr>
            <a:r>
              <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rPr>
              <a:t>No swiping</a:t>
            </a:r>
          </a:p>
          <a:p>
            <a:pPr marL="285750" indent="-285750">
              <a:buFont typeface="Arial" panose="020B0604020202020204" pitchFamily="34" charset="0"/>
              <a:buChar char="•"/>
            </a:pPr>
            <a:endPar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endParaRPr>
          </a:p>
          <a:p>
            <a:pPr marL="285750" indent="-285750">
              <a:buFont typeface="Arial" panose="020B0604020202020204" pitchFamily="34" charset="0"/>
              <a:buChar char="•"/>
            </a:pPr>
            <a:r>
              <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rPr>
              <a:t>Guaranteed matching</a:t>
            </a:r>
          </a:p>
          <a:p>
            <a:pPr marL="285750" indent="-285750">
              <a:buFont typeface="Arial" panose="020B0604020202020204" pitchFamily="34" charset="0"/>
              <a:buChar char="•"/>
            </a:pPr>
            <a:endPar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endParaRPr>
          </a:p>
          <a:p>
            <a:pPr marL="285750" indent="-285750">
              <a:buFont typeface="Arial" panose="020B0604020202020204" pitchFamily="34" charset="0"/>
              <a:buChar char="•"/>
            </a:pPr>
            <a:r>
              <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rPr>
              <a:t>AI driven platform</a:t>
            </a:r>
          </a:p>
          <a:p>
            <a:pPr marL="285750" indent="-285750">
              <a:buFont typeface="Arial" panose="020B0604020202020204" pitchFamily="34" charset="0"/>
              <a:buChar char="•"/>
            </a:pPr>
            <a:endPar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endParaRPr>
          </a:p>
          <a:p>
            <a:pPr marL="285750" indent="-285750">
              <a:buFont typeface="Arial" panose="020B0604020202020204" pitchFamily="34" charset="0"/>
              <a:buChar char="•"/>
            </a:pPr>
            <a:r>
              <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rPr>
              <a:t>Powered by a matching algorithm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06D6B-C243-8CAF-2350-6BB8115D66E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D7C0E5-F204-EFE0-E337-3A09FD130BE5}"/>
              </a:ext>
            </a:extLst>
          </p:cNvPr>
          <p:cNvSpPr/>
          <p:nvPr/>
        </p:nvSpPr>
        <p:spPr>
          <a:xfrm>
            <a:off x="463370" y="1560852"/>
            <a:ext cx="5221112" cy="59125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2592" b="1" dirty="0">
                <a:solidFill>
                  <a:srgbClr val="6764FB"/>
                </a:solidFill>
                <a:latin typeface="Noto Sans" pitchFamily="34" charset="0"/>
                <a:ea typeface="Noto Sans" pitchFamily="34" charset="-122"/>
                <a:cs typeface="Noto Sans" pitchFamily="34" charset="-120"/>
              </a:rPr>
              <a:t>What is LikeMinded?</a:t>
            </a:r>
            <a:endParaRPr lang="en-US" sz="1440" dirty="0"/>
          </a:p>
        </p:txBody>
      </p:sp>
      <p:pic>
        <p:nvPicPr>
          <p:cNvPr id="3" name="Image 0" descr="preencoded.png">
            <a:extLst>
              <a:ext uri="{FF2B5EF4-FFF2-40B4-BE49-F238E27FC236}">
                <a16:creationId xmlns:a16="http://schemas.microsoft.com/office/drawing/2014/main" id="{5A50D73B-2FD6-9ED9-107E-F80B5B7E47E5}"/>
              </a:ext>
            </a:extLst>
          </p:cNvPr>
          <p:cNvPicPr>
            <a:picLocks noChangeAspect="1"/>
          </p:cNvPicPr>
          <p:nvPr/>
        </p:nvPicPr>
        <p:blipFill>
          <a:blip r:embed="rId3"/>
          <a:stretch>
            <a:fillRect/>
          </a:stretch>
        </p:blipFill>
        <p:spPr>
          <a:xfrm>
            <a:off x="463370" y="438260"/>
            <a:ext cx="914028" cy="914028"/>
          </a:xfrm>
          <a:prstGeom prst="rect">
            <a:avLst/>
          </a:prstGeom>
        </p:spPr>
      </p:pic>
      <p:sp>
        <p:nvSpPr>
          <p:cNvPr id="4" name="Text 1">
            <a:extLst>
              <a:ext uri="{FF2B5EF4-FFF2-40B4-BE49-F238E27FC236}">
                <a16:creationId xmlns:a16="http://schemas.microsoft.com/office/drawing/2014/main" id="{E4639087-6030-81E1-37A6-2F7837289659}"/>
              </a:ext>
            </a:extLst>
          </p:cNvPr>
          <p:cNvSpPr/>
          <p:nvPr/>
        </p:nvSpPr>
        <p:spPr>
          <a:xfrm>
            <a:off x="242062" y="448795"/>
            <a:ext cx="1356643" cy="941832"/>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3888" b="1" dirty="0">
                <a:solidFill>
                  <a:srgbClr val="C560FF"/>
                </a:solidFill>
                <a:latin typeface="Noto Sans" pitchFamily="34" charset="0"/>
                <a:ea typeface="Noto Sans" pitchFamily="34" charset="-122"/>
                <a:cs typeface="Noto Sans" pitchFamily="34" charset="-120"/>
              </a:rPr>
              <a:t>01</a:t>
            </a:r>
            <a:endParaRPr lang="en-US" sz="1440" dirty="0"/>
          </a:p>
        </p:txBody>
      </p:sp>
      <p:pic>
        <p:nvPicPr>
          <p:cNvPr id="6" name="Picture 5" descr="A close up of a blue and purple background&#10;&#10;AI-generated content may be incorrect.">
            <a:extLst>
              <a:ext uri="{FF2B5EF4-FFF2-40B4-BE49-F238E27FC236}">
                <a16:creationId xmlns:a16="http://schemas.microsoft.com/office/drawing/2014/main" id="{B10A6A8B-FC15-56D6-FCF4-727C9D70E963}"/>
              </a:ext>
            </a:extLst>
          </p:cNvPr>
          <p:cNvPicPr>
            <a:picLocks noChangeAspect="1"/>
          </p:cNvPicPr>
          <p:nvPr/>
        </p:nvPicPr>
        <p:blipFill>
          <a:blip r:embed="rId4"/>
          <a:stretch>
            <a:fillRect/>
          </a:stretch>
        </p:blipFill>
        <p:spPr>
          <a:xfrm>
            <a:off x="0" y="0"/>
            <a:ext cx="9144000" cy="5143500"/>
          </a:xfrm>
          <a:prstGeom prst="rect">
            <a:avLst/>
          </a:prstGeom>
        </p:spPr>
      </p:pic>
      <p:sp>
        <p:nvSpPr>
          <p:cNvPr id="7" name="Text 0">
            <a:extLst>
              <a:ext uri="{FF2B5EF4-FFF2-40B4-BE49-F238E27FC236}">
                <a16:creationId xmlns:a16="http://schemas.microsoft.com/office/drawing/2014/main" id="{8EB0730B-43D8-E39E-6879-F808FEAC8771}"/>
              </a:ext>
            </a:extLst>
          </p:cNvPr>
          <p:cNvSpPr/>
          <p:nvPr/>
        </p:nvSpPr>
        <p:spPr>
          <a:xfrm>
            <a:off x="463370" y="1560852"/>
            <a:ext cx="5221112" cy="59125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2592" b="1" dirty="0">
                <a:solidFill>
                  <a:srgbClr val="6764FB"/>
                </a:solidFill>
                <a:latin typeface="Noto Sans" pitchFamily="34" charset="0"/>
                <a:ea typeface="Noto Sans" pitchFamily="34" charset="-122"/>
                <a:cs typeface="Noto Sans" pitchFamily="34" charset="-120"/>
              </a:rPr>
              <a:t>Why was it built?</a:t>
            </a:r>
            <a:endParaRPr lang="en-US" sz="1440" dirty="0"/>
          </a:p>
        </p:txBody>
      </p:sp>
      <p:pic>
        <p:nvPicPr>
          <p:cNvPr id="8" name="Image 0" descr="preencoded.png">
            <a:extLst>
              <a:ext uri="{FF2B5EF4-FFF2-40B4-BE49-F238E27FC236}">
                <a16:creationId xmlns:a16="http://schemas.microsoft.com/office/drawing/2014/main" id="{02350681-3636-5447-6E59-77F3A5E7BAD5}"/>
              </a:ext>
            </a:extLst>
          </p:cNvPr>
          <p:cNvPicPr>
            <a:picLocks noChangeAspect="1"/>
          </p:cNvPicPr>
          <p:nvPr/>
        </p:nvPicPr>
        <p:blipFill>
          <a:blip r:embed="rId3"/>
          <a:stretch>
            <a:fillRect/>
          </a:stretch>
        </p:blipFill>
        <p:spPr>
          <a:xfrm>
            <a:off x="463370" y="433606"/>
            <a:ext cx="914028" cy="914028"/>
          </a:xfrm>
          <a:prstGeom prst="rect">
            <a:avLst/>
          </a:prstGeom>
        </p:spPr>
      </p:pic>
      <p:sp>
        <p:nvSpPr>
          <p:cNvPr id="9" name="Text 1">
            <a:extLst>
              <a:ext uri="{FF2B5EF4-FFF2-40B4-BE49-F238E27FC236}">
                <a16:creationId xmlns:a16="http://schemas.microsoft.com/office/drawing/2014/main" id="{E29E1A5F-B176-8C40-91F2-B98FAAF34B5F}"/>
              </a:ext>
            </a:extLst>
          </p:cNvPr>
          <p:cNvSpPr/>
          <p:nvPr/>
        </p:nvSpPr>
        <p:spPr>
          <a:xfrm>
            <a:off x="242061" y="440390"/>
            <a:ext cx="1356643" cy="83042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3888" b="1" dirty="0">
                <a:solidFill>
                  <a:srgbClr val="C560FF"/>
                </a:solidFill>
                <a:latin typeface="Noto Sans" pitchFamily="34" charset="0"/>
                <a:ea typeface="Noto Sans" pitchFamily="34" charset="-122"/>
                <a:cs typeface="Noto Sans" pitchFamily="34" charset="-120"/>
              </a:rPr>
              <a:t>1.b</a:t>
            </a:r>
            <a:endParaRPr lang="en-US" sz="1440" dirty="0"/>
          </a:p>
        </p:txBody>
      </p:sp>
      <p:sp>
        <p:nvSpPr>
          <p:cNvPr id="11" name="TextBox 10">
            <a:extLst>
              <a:ext uri="{FF2B5EF4-FFF2-40B4-BE49-F238E27FC236}">
                <a16:creationId xmlns:a16="http://schemas.microsoft.com/office/drawing/2014/main" id="{CF4B4CDA-D31C-F614-FE76-BB1682091BBB}"/>
              </a:ext>
            </a:extLst>
          </p:cNvPr>
          <p:cNvSpPr txBox="1"/>
          <p:nvPr/>
        </p:nvSpPr>
        <p:spPr>
          <a:xfrm>
            <a:off x="607423" y="2152104"/>
            <a:ext cx="4911634" cy="2031325"/>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rPr>
              <a:t>Personality over appearance</a:t>
            </a:r>
          </a:p>
          <a:p>
            <a:pPr marL="285750" indent="-285750">
              <a:buFont typeface="Arial" panose="020B0604020202020204" pitchFamily="34" charset="0"/>
              <a:buChar char="•"/>
            </a:pPr>
            <a:endPar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endParaRPr>
          </a:p>
          <a:p>
            <a:pPr marL="285750" indent="-285750">
              <a:buFont typeface="Arial" panose="020B0604020202020204" pitchFamily="34" charset="0"/>
              <a:buChar char="•"/>
            </a:pPr>
            <a:r>
              <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rPr>
              <a:t>Lack of depth and long-term potential in current apps</a:t>
            </a:r>
          </a:p>
          <a:p>
            <a:pPr marL="285750" indent="-285750">
              <a:buFont typeface="Arial" panose="020B0604020202020204" pitchFamily="34" charset="0"/>
              <a:buChar char="•"/>
            </a:pPr>
            <a:endPar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endParaRPr>
          </a:p>
          <a:p>
            <a:pPr marL="285750" indent="-285750">
              <a:buFont typeface="Arial" panose="020B0604020202020204" pitchFamily="34" charset="0"/>
              <a:buChar char="•"/>
            </a:pPr>
            <a:r>
              <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rPr>
              <a:t>Easier way start to conversations</a:t>
            </a:r>
          </a:p>
          <a:p>
            <a:pPr marL="285750" indent="-285750">
              <a:buFont typeface="Arial" panose="020B0604020202020204" pitchFamily="34" charset="0"/>
              <a:buChar char="•"/>
            </a:pPr>
            <a:endPar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86229660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5078" y="67884"/>
            <a:ext cx="8005161" cy="523285"/>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Some problems that can be solved with LikeMinded</a:t>
            </a:r>
            <a:endParaRPr lang="en-US" sz="1440" dirty="0"/>
          </a:p>
        </p:txBody>
      </p:sp>
      <p:pic>
        <p:nvPicPr>
          <p:cNvPr id="3" name="Image 0" descr="preencoded.png"/>
          <p:cNvPicPr>
            <a:picLocks noChangeAspect="1"/>
          </p:cNvPicPr>
          <p:nvPr/>
        </p:nvPicPr>
        <p:blipFill>
          <a:blip r:embed="rId4"/>
          <a:stretch>
            <a:fillRect/>
          </a:stretch>
        </p:blipFill>
        <p:spPr>
          <a:xfrm>
            <a:off x="201357" y="244913"/>
            <a:ext cx="616423" cy="231159"/>
          </a:xfrm>
          <a:prstGeom prst="rect">
            <a:avLst/>
          </a:prstGeom>
        </p:spPr>
      </p:pic>
      <p:pic>
        <p:nvPicPr>
          <p:cNvPr id="4" name="Image 1" descr="preencoded.png"/>
          <p:cNvPicPr>
            <a:picLocks noChangeAspect="1"/>
          </p:cNvPicPr>
          <p:nvPr/>
        </p:nvPicPr>
        <p:blipFill>
          <a:blip r:embed="rId5"/>
          <a:stretch>
            <a:fillRect/>
          </a:stretch>
        </p:blipFill>
        <p:spPr>
          <a:xfrm>
            <a:off x="201357" y="244913"/>
            <a:ext cx="616423" cy="231159"/>
          </a:xfrm>
          <a:prstGeom prst="rect">
            <a:avLst/>
          </a:prstGeom>
        </p:spPr>
      </p:pic>
      <p:pic>
        <p:nvPicPr>
          <p:cNvPr id="5" name="Image 2" descr="preencoded.png"/>
          <p:cNvPicPr>
            <a:picLocks noChangeAspect="1"/>
          </p:cNvPicPr>
          <p:nvPr/>
        </p:nvPicPr>
        <p:blipFill>
          <a:blip r:embed="rId6"/>
          <a:stretch>
            <a:fillRect/>
          </a:stretch>
        </p:blipFill>
        <p:spPr>
          <a:xfrm>
            <a:off x="201357" y="244913"/>
            <a:ext cx="616423" cy="231159"/>
          </a:xfrm>
          <a:prstGeom prst="rect">
            <a:avLst/>
          </a:prstGeom>
        </p:spPr>
      </p:pic>
      <p:sp>
        <p:nvSpPr>
          <p:cNvPr id="6" name="Shape 1"/>
          <p:cNvSpPr/>
          <p:nvPr/>
        </p:nvSpPr>
        <p:spPr>
          <a:xfrm>
            <a:off x="4056412" y="1508760"/>
            <a:ext cx="174439" cy="0"/>
          </a:xfrm>
          <a:custGeom>
            <a:avLst/>
            <a:gdLst/>
            <a:ahLst/>
            <a:cxnLst/>
            <a:rect l="l" t="t" r="r" b="b"/>
            <a:pathLst>
              <a:path w="174439">
                <a:moveTo>
                  <a:pt x="174439" y="0"/>
                </a:moveTo>
                <a:moveTo>
                  <a:pt x="174439" y="0"/>
                </a:moveTo>
                <a:lnTo>
                  <a:pt x="0" y="0"/>
                </a:lnTo>
              </a:path>
            </a:pathLst>
          </a:custGeom>
          <a:noFill/>
          <a:ln w="19050">
            <a:solidFill>
              <a:srgbClr val="6764FB"/>
            </a:solidFill>
            <a:prstDash val="solid"/>
            <a:headEnd type="none"/>
            <a:tailEnd type="arrow"/>
          </a:ln>
        </p:spPr>
        <p:txBody>
          <a:bodyPr/>
          <a:lstStyle/>
          <a:p>
            <a:endParaRPr lang="en-US"/>
          </a:p>
        </p:txBody>
      </p:sp>
      <p:sp>
        <p:nvSpPr>
          <p:cNvPr id="7" name="Shape 2"/>
          <p:cNvSpPr/>
          <p:nvPr/>
        </p:nvSpPr>
        <p:spPr>
          <a:xfrm>
            <a:off x="4955413" y="2798064"/>
            <a:ext cx="177670" cy="0"/>
          </a:xfrm>
          <a:custGeom>
            <a:avLst/>
            <a:gdLst/>
            <a:ahLst/>
            <a:cxnLst/>
            <a:rect l="l" t="t" r="r" b="b"/>
            <a:pathLst>
              <a:path w="177670">
                <a:moveTo>
                  <a:pt x="0" y="0"/>
                </a:moveTo>
                <a:moveTo>
                  <a:pt x="0" y="0"/>
                </a:moveTo>
                <a:lnTo>
                  <a:pt x="177670" y="0"/>
                </a:lnTo>
              </a:path>
            </a:pathLst>
          </a:custGeom>
          <a:noFill/>
          <a:ln w="19050">
            <a:solidFill>
              <a:srgbClr val="6764FB"/>
            </a:solidFill>
            <a:prstDash val="solid"/>
            <a:headEnd type="none"/>
            <a:tailEnd type="arrow"/>
          </a:ln>
        </p:spPr>
        <p:txBody>
          <a:bodyPr/>
          <a:lstStyle/>
          <a:p>
            <a:endParaRPr lang="en-US"/>
          </a:p>
        </p:txBody>
      </p:sp>
      <p:sp>
        <p:nvSpPr>
          <p:cNvPr id="8" name="Shape 3"/>
          <p:cNvSpPr/>
          <p:nvPr/>
        </p:nvSpPr>
        <p:spPr>
          <a:xfrm>
            <a:off x="4048826" y="4091940"/>
            <a:ext cx="175088" cy="0"/>
          </a:xfrm>
          <a:custGeom>
            <a:avLst/>
            <a:gdLst/>
            <a:ahLst/>
            <a:cxnLst/>
            <a:rect l="l" t="t" r="r" b="b"/>
            <a:pathLst>
              <a:path w="175088">
                <a:moveTo>
                  <a:pt x="175088" y="0"/>
                </a:moveTo>
                <a:moveTo>
                  <a:pt x="175088" y="0"/>
                </a:moveTo>
                <a:lnTo>
                  <a:pt x="0" y="0"/>
                </a:lnTo>
              </a:path>
            </a:pathLst>
          </a:custGeom>
          <a:noFill/>
          <a:ln w="19050">
            <a:solidFill>
              <a:srgbClr val="6764FB"/>
            </a:solidFill>
            <a:prstDash val="solid"/>
            <a:headEnd type="none"/>
            <a:tailEnd type="arrow"/>
          </a:ln>
        </p:spPr>
        <p:txBody>
          <a:bodyPr/>
          <a:lstStyle/>
          <a:p>
            <a:endParaRPr lang="en-US"/>
          </a:p>
        </p:txBody>
      </p:sp>
      <p:sp>
        <p:nvSpPr>
          <p:cNvPr id="9" name="Text 4"/>
          <p:cNvSpPr/>
          <p:nvPr/>
        </p:nvSpPr>
        <p:spPr>
          <a:xfrm>
            <a:off x="4218228" y="1143000"/>
            <a:ext cx="745435" cy="70408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736" b="1" dirty="0">
                <a:solidFill>
                  <a:srgbClr val="6764FB"/>
                </a:solidFill>
                <a:latin typeface="Noto Sans" pitchFamily="34" charset="0"/>
                <a:ea typeface="Noto Sans" pitchFamily="34" charset="-122"/>
                <a:cs typeface="Noto Sans" pitchFamily="34" charset="-120"/>
              </a:rPr>
              <a:t>01</a:t>
            </a:r>
            <a:endParaRPr lang="en-US" sz="1440" dirty="0"/>
          </a:p>
        </p:txBody>
      </p:sp>
      <p:sp>
        <p:nvSpPr>
          <p:cNvPr id="10" name="Text 5"/>
          <p:cNvSpPr/>
          <p:nvPr/>
        </p:nvSpPr>
        <p:spPr>
          <a:xfrm>
            <a:off x="4218228" y="3776472"/>
            <a:ext cx="745435" cy="676656"/>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592" b="1" dirty="0">
                <a:solidFill>
                  <a:srgbClr val="6764FB"/>
                </a:solidFill>
                <a:latin typeface="Noto Sans" pitchFamily="34" charset="0"/>
                <a:ea typeface="Noto Sans" pitchFamily="34" charset="-122"/>
                <a:cs typeface="Noto Sans" pitchFamily="34" charset="-120"/>
              </a:rPr>
              <a:t>03</a:t>
            </a:r>
            <a:endParaRPr lang="en-US" sz="1440" dirty="0"/>
          </a:p>
        </p:txBody>
      </p:sp>
      <p:sp>
        <p:nvSpPr>
          <p:cNvPr id="11" name="Text 6"/>
          <p:cNvSpPr/>
          <p:nvPr/>
        </p:nvSpPr>
        <p:spPr>
          <a:xfrm>
            <a:off x="4209084" y="2468880"/>
            <a:ext cx="745435" cy="676656"/>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592" b="1" dirty="0">
                <a:solidFill>
                  <a:srgbClr val="6764FB"/>
                </a:solidFill>
                <a:latin typeface="Noto Sans" pitchFamily="34" charset="0"/>
                <a:ea typeface="Noto Sans" pitchFamily="34" charset="-122"/>
                <a:cs typeface="Noto Sans" pitchFamily="34" charset="-120"/>
              </a:rPr>
              <a:t>02</a:t>
            </a:r>
            <a:endParaRPr lang="en-US" sz="1440" dirty="0"/>
          </a:p>
        </p:txBody>
      </p:sp>
      <p:sp>
        <p:nvSpPr>
          <p:cNvPr id="12" name="Text 7"/>
          <p:cNvSpPr/>
          <p:nvPr/>
        </p:nvSpPr>
        <p:spPr>
          <a:xfrm>
            <a:off x="327670" y="1312164"/>
            <a:ext cx="3728741" cy="393192"/>
          </a:xfrm>
          <a:prstGeom prst="rect">
            <a:avLst/>
          </a:prstGeom>
          <a:noFill/>
          <a:ln/>
        </p:spPr>
        <p:txBody>
          <a:bodyPr wrap="square" lIns="95250" tIns="95250" rIns="95250" bIns="95250" rtlCol="0" anchor="b"/>
          <a:lstStyle/>
          <a:p>
            <a:pPr algn="r">
              <a:spcBef>
                <a:spcPts val="375"/>
              </a:spcBef>
            </a:pPr>
            <a:r>
              <a:rPr lang="en-US" sz="1296" b="1" dirty="0">
                <a:solidFill>
                  <a:srgbClr val="6764FB"/>
                </a:solidFill>
                <a:latin typeface="Noto Sans" pitchFamily="34" charset="0"/>
                <a:ea typeface="Noto Sans" pitchFamily="34" charset="-122"/>
                <a:cs typeface="Noto Sans" pitchFamily="34" charset="-120"/>
              </a:rPr>
              <a:t>Poor compatibility between matched users</a:t>
            </a:r>
            <a:endParaRPr lang="en-US" sz="1440" dirty="0"/>
          </a:p>
        </p:txBody>
      </p:sp>
      <p:sp>
        <p:nvSpPr>
          <p:cNvPr id="14" name="Text 9"/>
          <p:cNvSpPr/>
          <p:nvPr/>
        </p:nvSpPr>
        <p:spPr>
          <a:xfrm>
            <a:off x="5217445" y="2601468"/>
            <a:ext cx="3567074" cy="393192"/>
          </a:xfrm>
          <a:prstGeom prst="rect">
            <a:avLst/>
          </a:prstGeom>
          <a:noFill/>
          <a:ln/>
        </p:spPr>
        <p:txBody>
          <a:bodyPr wrap="square" lIns="95250" tIns="95250" rIns="95250" bIns="95250" rtlCol="0" anchor="b"/>
          <a:lstStyle/>
          <a:p>
            <a:pPr>
              <a:spcBef>
                <a:spcPts val="375"/>
              </a:spcBef>
            </a:pPr>
            <a:r>
              <a:rPr lang="en-US" sz="1296" b="1" dirty="0">
                <a:solidFill>
                  <a:srgbClr val="6764FB"/>
                </a:solidFill>
                <a:latin typeface="Noto Sans" pitchFamily="34" charset="0"/>
                <a:ea typeface="Noto Sans" pitchFamily="34" charset="-122"/>
                <a:cs typeface="Noto Sans" pitchFamily="34" charset="-120"/>
              </a:rPr>
              <a:t>High drop-off after initial matches</a:t>
            </a:r>
            <a:endParaRPr lang="en-US" sz="1440" dirty="0"/>
          </a:p>
        </p:txBody>
      </p:sp>
      <p:sp>
        <p:nvSpPr>
          <p:cNvPr id="16" name="Text 11"/>
          <p:cNvSpPr/>
          <p:nvPr/>
        </p:nvSpPr>
        <p:spPr>
          <a:xfrm>
            <a:off x="1227909" y="3947595"/>
            <a:ext cx="2734248" cy="393189"/>
          </a:xfrm>
          <a:prstGeom prst="rect">
            <a:avLst/>
          </a:prstGeom>
          <a:noFill/>
          <a:ln/>
        </p:spPr>
        <p:txBody>
          <a:bodyPr wrap="square" lIns="95250" tIns="95250" rIns="95250" bIns="95250" rtlCol="0" anchor="b"/>
          <a:lstStyle/>
          <a:p>
            <a:pPr algn="r">
              <a:spcBef>
                <a:spcPts val="375"/>
              </a:spcBef>
            </a:pPr>
            <a:r>
              <a:rPr lang="en-US" sz="1296" b="1" dirty="0">
                <a:solidFill>
                  <a:srgbClr val="6764FB"/>
                </a:solidFill>
                <a:latin typeface="Noto Sans" pitchFamily="34" charset="0"/>
                <a:ea typeface="Noto Sans" pitchFamily="34" charset="-122"/>
                <a:cs typeface="Noto Sans" pitchFamily="34" charset="-120"/>
              </a:rPr>
              <a:t>Low conversion of matches into meaningful relationships</a:t>
            </a:r>
            <a:endParaRPr lang="en-US" sz="1440" dirty="0"/>
          </a:p>
        </p:txBody>
      </p:sp>
      <p:pic>
        <p:nvPicPr>
          <p:cNvPr id="18" name="Image 3" descr="preencoded.png"/>
          <p:cNvPicPr>
            <a:picLocks noChangeAspect="1"/>
          </p:cNvPicPr>
          <p:nvPr/>
        </p:nvPicPr>
        <p:blipFill>
          <a:blip r:embed="rId7"/>
          <a:stretch>
            <a:fillRect/>
          </a:stretch>
        </p:blipFill>
        <p:spPr>
          <a:xfrm>
            <a:off x="4135932" y="1045159"/>
            <a:ext cx="914400" cy="914400"/>
          </a:xfrm>
          <a:prstGeom prst="rect">
            <a:avLst/>
          </a:prstGeom>
        </p:spPr>
      </p:pic>
      <p:pic>
        <p:nvPicPr>
          <p:cNvPr id="19" name="Image 4" descr="preencoded.png"/>
          <p:cNvPicPr>
            <a:picLocks noChangeAspect="1"/>
          </p:cNvPicPr>
          <p:nvPr/>
        </p:nvPicPr>
        <p:blipFill>
          <a:blip r:embed="rId7"/>
          <a:stretch>
            <a:fillRect/>
          </a:stretch>
        </p:blipFill>
        <p:spPr>
          <a:xfrm>
            <a:off x="4135932" y="2350008"/>
            <a:ext cx="914400" cy="914400"/>
          </a:xfrm>
          <a:prstGeom prst="rect">
            <a:avLst/>
          </a:prstGeom>
        </p:spPr>
      </p:pic>
      <p:pic>
        <p:nvPicPr>
          <p:cNvPr id="20" name="Image 5" descr="preencoded.png"/>
          <p:cNvPicPr>
            <a:picLocks noChangeAspect="1"/>
          </p:cNvPicPr>
          <p:nvPr/>
        </p:nvPicPr>
        <p:blipFill>
          <a:blip r:embed="rId7"/>
          <a:stretch>
            <a:fillRect/>
          </a:stretch>
        </p:blipFill>
        <p:spPr>
          <a:xfrm>
            <a:off x="4135932" y="3657600"/>
            <a:ext cx="914400" cy="914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63370" y="1959269"/>
            <a:ext cx="5221112" cy="59125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2592" b="1" dirty="0">
                <a:solidFill>
                  <a:srgbClr val="6764FB"/>
                </a:solidFill>
                <a:latin typeface="Noto Sans" pitchFamily="34" charset="0"/>
                <a:ea typeface="Noto Sans" pitchFamily="34" charset="-122"/>
                <a:cs typeface="Noto Sans" pitchFamily="34" charset="-120"/>
              </a:rPr>
              <a:t>Quick Demo</a:t>
            </a:r>
            <a:endParaRPr lang="en-US" sz="1440" dirty="0"/>
          </a:p>
        </p:txBody>
      </p:sp>
      <p:pic>
        <p:nvPicPr>
          <p:cNvPr id="3" name="Image 0" descr="preencoded.png"/>
          <p:cNvPicPr>
            <a:picLocks noChangeAspect="1"/>
          </p:cNvPicPr>
          <p:nvPr/>
        </p:nvPicPr>
        <p:blipFill>
          <a:blip r:embed="rId4"/>
          <a:stretch>
            <a:fillRect/>
          </a:stretch>
        </p:blipFill>
        <p:spPr>
          <a:xfrm>
            <a:off x="463370" y="438260"/>
            <a:ext cx="914028" cy="914028"/>
          </a:xfrm>
          <a:prstGeom prst="rect">
            <a:avLst/>
          </a:prstGeom>
        </p:spPr>
      </p:pic>
      <p:sp>
        <p:nvSpPr>
          <p:cNvPr id="4" name="Text 1"/>
          <p:cNvSpPr/>
          <p:nvPr/>
        </p:nvSpPr>
        <p:spPr>
          <a:xfrm>
            <a:off x="242062" y="487330"/>
            <a:ext cx="1356643" cy="941832"/>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3888" b="1" dirty="0">
                <a:solidFill>
                  <a:srgbClr val="C560FF"/>
                </a:solidFill>
                <a:latin typeface="Noto Sans" pitchFamily="34" charset="0"/>
                <a:ea typeface="Noto Sans" pitchFamily="34" charset="-122"/>
                <a:cs typeface="Noto Sans" pitchFamily="34" charset="-120"/>
              </a:rPr>
              <a:t>02</a:t>
            </a:r>
            <a:endParaRPr lang="en-US" sz="144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5078" y="231645"/>
            <a:ext cx="8005161" cy="523285"/>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Architecture &amp; Technology Stack</a:t>
            </a:r>
            <a:endParaRPr lang="en-US" sz="1440" dirty="0"/>
          </a:p>
        </p:txBody>
      </p:sp>
      <p:sp>
        <p:nvSpPr>
          <p:cNvPr id="6" name="Shape 1"/>
          <p:cNvSpPr/>
          <p:nvPr/>
        </p:nvSpPr>
        <p:spPr>
          <a:xfrm>
            <a:off x="350620" y="1069289"/>
            <a:ext cx="6793133" cy="0"/>
          </a:xfrm>
          <a:custGeom>
            <a:avLst/>
            <a:gdLst/>
            <a:ahLst/>
            <a:cxnLst/>
            <a:rect l="l" t="t" r="r" b="b"/>
            <a:pathLst>
              <a:path w="6793133">
                <a:moveTo>
                  <a:pt x="6793133" y="0"/>
                </a:moveTo>
                <a:moveTo>
                  <a:pt x="6793133" y="0"/>
                </a:moveTo>
                <a:lnTo>
                  <a:pt x="0" y="0"/>
                </a:lnTo>
              </a:path>
            </a:pathLst>
          </a:custGeom>
          <a:noFill/>
          <a:ln w="9525">
            <a:solidFill>
              <a:srgbClr val="BEB6EB"/>
            </a:solidFill>
            <a:prstDash val="solid"/>
            <a:headEnd type="none"/>
            <a:tailEnd type="none"/>
          </a:ln>
        </p:spPr>
        <p:txBody>
          <a:bodyPr/>
          <a:lstStyle/>
          <a:p>
            <a:endParaRPr lang="en-US"/>
          </a:p>
        </p:txBody>
      </p:sp>
      <p:pic>
        <p:nvPicPr>
          <p:cNvPr id="7" name="Image 3" descr="https://oceandoc-ai.obs.ap-southeast-3.myhuaweicloud.com/ppt_list_page/_19052329831_pZN4da1732156004906-023884567989475713.png?authorization=c2ltcGxlLWp3dCBhaz1zcGFya2Rlc2s4MDAwMDAwMDAwMDE7ZXhwPTMzMDg5NTYwMDY7YWxnbz1obWFjLXNoYTI1NjtzaWc9ZHp5V29yc3hUUWQ1RGZHYUpqTWxuS28xL29WZUtjTytzbGo0QXNrVTVOcz0=&amp;x_location=7YfmxI7B7uKO7jlRxIftd60pfXD="/>
          <p:cNvPicPr>
            <a:picLocks noChangeAspect="1"/>
          </p:cNvPicPr>
          <p:nvPr/>
        </p:nvPicPr>
        <p:blipFill>
          <a:blip r:embed="rId4"/>
          <a:stretch>
            <a:fillRect/>
          </a:stretch>
        </p:blipFill>
        <p:spPr>
          <a:xfrm>
            <a:off x="7060332" y="824715"/>
            <a:ext cx="1832206" cy="3494071"/>
          </a:xfrm>
          <a:prstGeom prst="rect">
            <a:avLst/>
          </a:prstGeom>
        </p:spPr>
      </p:pic>
      <p:pic>
        <p:nvPicPr>
          <p:cNvPr id="8" name="Image 4" descr="https://oceandoc-ai.obs.ap-southeast-3.myhuaweicloud.com:443/image_1765724203061_YzzadO.jpg"/>
          <p:cNvPicPr>
            <a:picLocks noChangeAspect="1"/>
          </p:cNvPicPr>
          <p:nvPr/>
        </p:nvPicPr>
        <p:blipFill>
          <a:blip r:embed="rId5"/>
          <a:srcRect l="19886" r="23295"/>
          <a:stretch/>
        </p:blipFill>
        <p:spPr>
          <a:xfrm>
            <a:off x="7237501" y="1186006"/>
            <a:ext cx="1499196" cy="2644722"/>
          </a:xfrm>
          <a:prstGeom prst="rect">
            <a:avLst/>
          </a:prstGeom>
        </p:spPr>
      </p:pic>
      <p:sp>
        <p:nvSpPr>
          <p:cNvPr id="9" name="Text 2"/>
          <p:cNvSpPr/>
          <p:nvPr/>
        </p:nvSpPr>
        <p:spPr>
          <a:xfrm>
            <a:off x="345211" y="1317690"/>
            <a:ext cx="572963" cy="621792"/>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304" b="1" i="1" dirty="0">
                <a:solidFill>
                  <a:srgbClr val="6764FB"/>
                </a:solidFill>
                <a:latin typeface="Noto Sans" pitchFamily="34" charset="0"/>
                <a:ea typeface="Noto Sans" pitchFamily="34" charset="-122"/>
                <a:cs typeface="Noto Sans" pitchFamily="34" charset="-120"/>
              </a:rPr>
              <a:t>01</a:t>
            </a:r>
            <a:endParaRPr lang="en-US" sz="1440" dirty="0"/>
          </a:p>
        </p:txBody>
      </p:sp>
      <p:sp>
        <p:nvSpPr>
          <p:cNvPr id="10" name="Text 3"/>
          <p:cNvSpPr/>
          <p:nvPr/>
        </p:nvSpPr>
        <p:spPr>
          <a:xfrm>
            <a:off x="345211" y="1945220"/>
            <a:ext cx="1937614" cy="391774"/>
          </a:xfrm>
          <a:prstGeom prst="rect">
            <a:avLst/>
          </a:prstGeom>
          <a:noFill/>
          <a:ln/>
        </p:spPr>
        <p:txBody>
          <a:bodyPr wrap="square" lIns="95250" tIns="95250" rIns="95250" bIns="95250" rtlCol="0" anchor="ctr">
            <a:spAutoFit/>
          </a:bodyPr>
          <a:lstStyle/>
          <a:p>
            <a:pPr marL="0" indent="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Frontend</a:t>
            </a:r>
          </a:p>
        </p:txBody>
      </p:sp>
      <p:sp>
        <p:nvSpPr>
          <p:cNvPr id="11" name="Text 4"/>
          <p:cNvSpPr/>
          <p:nvPr/>
        </p:nvSpPr>
        <p:spPr>
          <a:xfrm>
            <a:off x="345211" y="2346570"/>
            <a:ext cx="1937614" cy="347467"/>
          </a:xfrm>
          <a:prstGeom prst="rect">
            <a:avLst/>
          </a:prstGeom>
          <a:noFill/>
          <a:ln/>
        </p:spPr>
        <p:txBody>
          <a:bodyPr wrap="square" lIns="95250" tIns="95250" rIns="95250" bIns="95250" rtlCol="0" anchor="t">
            <a:spAutoFit/>
          </a:bodyPr>
          <a:lstStyle/>
          <a:p>
            <a:pPr marL="0" indent="0">
              <a:lnSpc>
                <a:spcPct val="100000"/>
              </a:lnSpc>
              <a:buNone/>
            </a:pPr>
            <a:r>
              <a:rPr lang="en-US" sz="1008" dirty="0">
                <a:solidFill>
                  <a:srgbClr val="FFFFFF"/>
                </a:solidFill>
                <a:latin typeface="Noto Sans" pitchFamily="34" charset="0"/>
                <a:ea typeface="Noto Sans" pitchFamily="34" charset="-122"/>
                <a:cs typeface="Noto Sans" pitchFamily="34" charset="-120"/>
              </a:rPr>
              <a:t>React.js &amp; Tailwind</a:t>
            </a:r>
            <a:endParaRPr lang="en-US" sz="1440" dirty="0"/>
          </a:p>
        </p:txBody>
      </p:sp>
      <p:sp>
        <p:nvSpPr>
          <p:cNvPr id="12" name="Text 5"/>
          <p:cNvSpPr/>
          <p:nvPr/>
        </p:nvSpPr>
        <p:spPr>
          <a:xfrm>
            <a:off x="2664129" y="1317690"/>
            <a:ext cx="572963" cy="621792"/>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304" b="1" i="1" dirty="0">
                <a:solidFill>
                  <a:srgbClr val="C560FF"/>
                </a:solidFill>
                <a:latin typeface="Noto Sans" pitchFamily="34" charset="0"/>
                <a:ea typeface="Noto Sans" pitchFamily="34" charset="-122"/>
                <a:cs typeface="Noto Sans" pitchFamily="34" charset="-120"/>
              </a:rPr>
              <a:t>02</a:t>
            </a:r>
            <a:endParaRPr lang="en-US" sz="1440" dirty="0"/>
          </a:p>
        </p:txBody>
      </p:sp>
      <p:sp>
        <p:nvSpPr>
          <p:cNvPr id="13" name="Text 6"/>
          <p:cNvSpPr/>
          <p:nvPr/>
        </p:nvSpPr>
        <p:spPr>
          <a:xfrm>
            <a:off x="2664129" y="1945220"/>
            <a:ext cx="1937614" cy="391774"/>
          </a:xfrm>
          <a:prstGeom prst="rect">
            <a:avLst/>
          </a:prstGeom>
          <a:noFill/>
          <a:ln/>
        </p:spPr>
        <p:txBody>
          <a:bodyPr wrap="square" lIns="95250" tIns="95250" rIns="95250" bIns="95250" rtlCol="0" anchor="ctr">
            <a:spAutoFit/>
          </a:bodyPr>
          <a:lstStyle/>
          <a:p>
            <a:pPr marL="0" indent="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Backend</a:t>
            </a:r>
            <a:endParaRPr lang="en-US" sz="1440" dirty="0"/>
          </a:p>
        </p:txBody>
      </p:sp>
      <p:sp>
        <p:nvSpPr>
          <p:cNvPr id="14" name="Text 7"/>
          <p:cNvSpPr/>
          <p:nvPr/>
        </p:nvSpPr>
        <p:spPr>
          <a:xfrm>
            <a:off x="2664129" y="2335242"/>
            <a:ext cx="1937614" cy="346249"/>
          </a:xfrm>
          <a:prstGeom prst="rect">
            <a:avLst/>
          </a:prstGeom>
          <a:noFill/>
          <a:ln/>
        </p:spPr>
        <p:txBody>
          <a:bodyPr wrap="square" lIns="95250" tIns="95250" rIns="95250" bIns="95250" rtlCol="0" anchor="t">
            <a:spAutoFit/>
          </a:bodyPr>
          <a:lstStyle/>
          <a:p>
            <a:pPr>
              <a:lnSpc>
                <a:spcPct val="100000"/>
              </a:lnSpc>
              <a:spcBef>
                <a:spcPts val="375"/>
              </a:spcBef>
            </a:pPr>
            <a:r>
              <a:rPr lang="en-US" sz="1000" dirty="0">
                <a:solidFill>
                  <a:srgbClr val="FFFFFF"/>
                </a:solidFill>
                <a:latin typeface="Noto Sans" pitchFamily="34" charset="0"/>
                <a:ea typeface="Noto Sans" pitchFamily="34" charset="-122"/>
                <a:cs typeface="Noto Sans" pitchFamily="34" charset="-120"/>
              </a:rPr>
              <a:t>FastAPI &amp; Supabase (MySQL)</a:t>
            </a:r>
          </a:p>
        </p:txBody>
      </p:sp>
      <p:sp>
        <p:nvSpPr>
          <p:cNvPr id="15" name="Text 8"/>
          <p:cNvSpPr/>
          <p:nvPr/>
        </p:nvSpPr>
        <p:spPr>
          <a:xfrm>
            <a:off x="4920594" y="1317690"/>
            <a:ext cx="572963" cy="621792"/>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304" b="1" i="1" dirty="0">
                <a:solidFill>
                  <a:srgbClr val="6764FB"/>
                </a:solidFill>
                <a:latin typeface="Noto Sans" pitchFamily="34" charset="0"/>
                <a:ea typeface="Noto Sans" pitchFamily="34" charset="-122"/>
                <a:cs typeface="Noto Sans" pitchFamily="34" charset="-120"/>
              </a:rPr>
              <a:t>03</a:t>
            </a:r>
            <a:endParaRPr lang="en-US" sz="1440" dirty="0"/>
          </a:p>
        </p:txBody>
      </p:sp>
      <p:sp>
        <p:nvSpPr>
          <p:cNvPr id="16" name="Text 9"/>
          <p:cNvSpPr/>
          <p:nvPr/>
        </p:nvSpPr>
        <p:spPr>
          <a:xfrm>
            <a:off x="4920594" y="1945220"/>
            <a:ext cx="1937478" cy="391774"/>
          </a:xfrm>
          <a:prstGeom prst="rect">
            <a:avLst/>
          </a:prstGeom>
          <a:noFill/>
          <a:ln/>
        </p:spPr>
        <p:txBody>
          <a:bodyPr wrap="square" lIns="95250" tIns="95250" rIns="95250" bIns="95250" rtlCol="0" anchor="ctr">
            <a:spAutoFit/>
          </a:bodyPr>
          <a:lstStyle/>
          <a:p>
            <a:pPr marL="0" indent="0">
              <a:lnSpc>
                <a:spcPct val="100000"/>
              </a:lnSpc>
              <a:spcBef>
                <a:spcPts val="375"/>
              </a:spcBef>
              <a:buNone/>
            </a:pPr>
            <a:r>
              <a:rPr lang="en-US" sz="1296" b="1" dirty="0">
                <a:solidFill>
                  <a:srgbClr val="FFFFFF"/>
                </a:solidFill>
                <a:latin typeface="Noto Sans" pitchFamily="34" charset="0"/>
                <a:ea typeface="Noto Sans" pitchFamily="34" charset="-122"/>
                <a:cs typeface="Noto Sans" pitchFamily="34" charset="-120"/>
              </a:rPr>
              <a:t>Main functionalities</a:t>
            </a:r>
            <a:endParaRPr lang="en-US" sz="1440" dirty="0"/>
          </a:p>
        </p:txBody>
      </p:sp>
      <p:sp>
        <p:nvSpPr>
          <p:cNvPr id="17" name="Text 10"/>
          <p:cNvSpPr/>
          <p:nvPr/>
        </p:nvSpPr>
        <p:spPr>
          <a:xfrm>
            <a:off x="4920594" y="2342732"/>
            <a:ext cx="1937478" cy="7602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FFFFFF"/>
                </a:solidFill>
                <a:latin typeface="Noto Sans" pitchFamily="34" charset="0"/>
                <a:ea typeface="Noto Sans" pitchFamily="34" charset="-122"/>
                <a:cs typeface="Noto Sans" pitchFamily="34" charset="-120"/>
              </a:rPr>
              <a:t>. Chatbot</a:t>
            </a:r>
          </a:p>
          <a:p>
            <a:pPr marL="0" indent="0">
              <a:lnSpc>
                <a:spcPct val="100000"/>
              </a:lnSpc>
              <a:spcBef>
                <a:spcPts val="375"/>
              </a:spcBef>
              <a:buNone/>
            </a:pPr>
            <a:r>
              <a:rPr lang="en-US" sz="1008" dirty="0">
                <a:solidFill>
                  <a:srgbClr val="FFFFFF"/>
                </a:solidFill>
                <a:latin typeface="Noto Sans" pitchFamily="34" charset="0"/>
                <a:ea typeface="Noto Sans" pitchFamily="34" charset="-122"/>
                <a:cs typeface="Noto Sans" pitchFamily="34" charset="-120"/>
              </a:rPr>
              <a:t>. Matching Algorithm</a:t>
            </a:r>
          </a:p>
          <a:p>
            <a:pPr marL="0" indent="0">
              <a:lnSpc>
                <a:spcPct val="100000"/>
              </a:lnSpc>
              <a:spcBef>
                <a:spcPts val="375"/>
              </a:spcBef>
              <a:buNone/>
            </a:pPr>
            <a:r>
              <a:rPr lang="en-US" sz="1008" dirty="0">
                <a:solidFill>
                  <a:srgbClr val="FFFFFF"/>
                </a:solidFill>
                <a:latin typeface="Noto Sans" pitchFamily="34" charset="0"/>
                <a:ea typeface="Noto Sans" pitchFamily="34" charset="-122"/>
                <a:cs typeface="Noto Sans" pitchFamily="34" charset="-120"/>
              </a:rPr>
              <a:t>. Conversations</a:t>
            </a:r>
          </a:p>
        </p:txBody>
      </p:sp>
      <p:pic>
        <p:nvPicPr>
          <p:cNvPr id="19" name="Picture 18" descr="A blue and black symbol&#10;&#10;AI-generated content may be incorrect.">
            <a:extLst>
              <a:ext uri="{FF2B5EF4-FFF2-40B4-BE49-F238E27FC236}">
                <a16:creationId xmlns:a16="http://schemas.microsoft.com/office/drawing/2014/main" id="{F6CB3337-1268-F5BA-C9D6-9C67E03BE316}"/>
              </a:ext>
            </a:extLst>
          </p:cNvPr>
          <p:cNvPicPr>
            <a:picLocks noChangeAspect="1"/>
          </p:cNvPicPr>
          <p:nvPr/>
        </p:nvPicPr>
        <p:blipFill>
          <a:blip r:embed="rId6"/>
          <a:stretch>
            <a:fillRect/>
          </a:stretch>
        </p:blipFill>
        <p:spPr>
          <a:xfrm>
            <a:off x="599322" y="2673523"/>
            <a:ext cx="318852" cy="283778"/>
          </a:xfrm>
          <a:prstGeom prst="rect">
            <a:avLst/>
          </a:prstGeom>
        </p:spPr>
      </p:pic>
      <p:pic>
        <p:nvPicPr>
          <p:cNvPr id="21" name="Picture 20" descr="A white square with blue waves on it&#10;&#10;AI-generated content may be incorrect.">
            <a:extLst>
              <a:ext uri="{FF2B5EF4-FFF2-40B4-BE49-F238E27FC236}">
                <a16:creationId xmlns:a16="http://schemas.microsoft.com/office/drawing/2014/main" id="{DBF9F718-FCD0-72E5-BBAE-E937D57ECC6C}"/>
              </a:ext>
            </a:extLst>
          </p:cNvPr>
          <p:cNvPicPr>
            <a:picLocks noChangeAspect="1"/>
          </p:cNvPicPr>
          <p:nvPr/>
        </p:nvPicPr>
        <p:blipFill>
          <a:blip r:embed="rId7"/>
          <a:stretch>
            <a:fillRect/>
          </a:stretch>
        </p:blipFill>
        <p:spPr>
          <a:xfrm>
            <a:off x="1044249" y="2632894"/>
            <a:ext cx="385551" cy="385551"/>
          </a:xfrm>
          <a:prstGeom prst="rect">
            <a:avLst/>
          </a:prstGeom>
        </p:spPr>
      </p:pic>
      <p:pic>
        <p:nvPicPr>
          <p:cNvPr id="25" name="Picture 24" descr="A black lightning bolt in a blue circle&#10;&#10;AI-generated content may be incorrect.">
            <a:extLst>
              <a:ext uri="{FF2B5EF4-FFF2-40B4-BE49-F238E27FC236}">
                <a16:creationId xmlns:a16="http://schemas.microsoft.com/office/drawing/2014/main" id="{D0F5B74F-B595-ACD6-FBDC-8D1AA73C3BF4}"/>
              </a:ext>
            </a:extLst>
          </p:cNvPr>
          <p:cNvPicPr>
            <a:picLocks noChangeAspect="1"/>
          </p:cNvPicPr>
          <p:nvPr/>
        </p:nvPicPr>
        <p:blipFill>
          <a:blip r:embed="rId8"/>
          <a:stretch>
            <a:fillRect/>
          </a:stretch>
        </p:blipFill>
        <p:spPr>
          <a:xfrm>
            <a:off x="2889376" y="2641554"/>
            <a:ext cx="315747" cy="315747"/>
          </a:xfrm>
          <a:prstGeom prst="rect">
            <a:avLst/>
          </a:prstGeom>
        </p:spPr>
      </p:pic>
      <p:pic>
        <p:nvPicPr>
          <p:cNvPr id="27" name="Picture 26" descr="A green triangle with black background&#10;&#10;AI-generated content may be incorrect.">
            <a:extLst>
              <a:ext uri="{FF2B5EF4-FFF2-40B4-BE49-F238E27FC236}">
                <a16:creationId xmlns:a16="http://schemas.microsoft.com/office/drawing/2014/main" id="{A59C3754-3203-39BA-A70C-C817AB8CCF5C}"/>
              </a:ext>
            </a:extLst>
          </p:cNvPr>
          <p:cNvPicPr>
            <a:picLocks noChangeAspect="1"/>
          </p:cNvPicPr>
          <p:nvPr/>
        </p:nvPicPr>
        <p:blipFill>
          <a:blip r:embed="rId9"/>
          <a:stretch>
            <a:fillRect/>
          </a:stretch>
        </p:blipFill>
        <p:spPr>
          <a:xfrm>
            <a:off x="3398513" y="2632894"/>
            <a:ext cx="306877" cy="306877"/>
          </a:xfrm>
          <a:prstGeom prst="rect">
            <a:avLst/>
          </a:prstGeom>
        </p:spPr>
      </p:pic>
      <p:pic>
        <p:nvPicPr>
          <p:cNvPr id="30" name="Image 0" descr="preencoded.png">
            <a:extLst>
              <a:ext uri="{FF2B5EF4-FFF2-40B4-BE49-F238E27FC236}">
                <a16:creationId xmlns:a16="http://schemas.microsoft.com/office/drawing/2014/main" id="{9854CC48-09E7-B296-FC26-629966FE9CCE}"/>
              </a:ext>
            </a:extLst>
          </p:cNvPr>
          <p:cNvPicPr>
            <a:picLocks noChangeAspect="1"/>
          </p:cNvPicPr>
          <p:nvPr/>
        </p:nvPicPr>
        <p:blipFill>
          <a:blip r:embed="rId10"/>
          <a:stretch>
            <a:fillRect/>
          </a:stretch>
        </p:blipFill>
        <p:spPr>
          <a:xfrm>
            <a:off x="142512" y="111460"/>
            <a:ext cx="733877" cy="733877"/>
          </a:xfrm>
          <a:prstGeom prst="rect">
            <a:avLst/>
          </a:prstGeom>
        </p:spPr>
      </p:pic>
      <p:sp>
        <p:nvSpPr>
          <p:cNvPr id="31" name="Text 1">
            <a:extLst>
              <a:ext uri="{FF2B5EF4-FFF2-40B4-BE49-F238E27FC236}">
                <a16:creationId xmlns:a16="http://schemas.microsoft.com/office/drawing/2014/main" id="{47086343-DE84-1376-7EDB-CB9EC836C5F3}"/>
              </a:ext>
            </a:extLst>
          </p:cNvPr>
          <p:cNvSpPr/>
          <p:nvPr/>
        </p:nvSpPr>
        <p:spPr>
          <a:xfrm>
            <a:off x="-45005" y="140040"/>
            <a:ext cx="1089254" cy="684675"/>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3000" b="1" dirty="0">
                <a:solidFill>
                  <a:srgbClr val="C560FF"/>
                </a:solidFill>
                <a:latin typeface="Noto Sans" pitchFamily="34" charset="0"/>
                <a:ea typeface="Noto Sans" pitchFamily="34" charset="-122"/>
                <a:cs typeface="Noto Sans" pitchFamily="34" charset="-120"/>
              </a:rPr>
              <a:t>03</a:t>
            </a:r>
            <a:endParaRPr lang="en-US" sz="3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5078" y="67884"/>
            <a:ext cx="8005161" cy="523285"/>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Challenges</a:t>
            </a:r>
            <a:endParaRPr lang="en-US" sz="1440" dirty="0"/>
          </a:p>
        </p:txBody>
      </p:sp>
      <p:pic>
        <p:nvPicPr>
          <p:cNvPr id="6" name="Image 3" descr="preencoded.png"/>
          <p:cNvPicPr>
            <a:picLocks noChangeAspect="1"/>
          </p:cNvPicPr>
          <p:nvPr/>
        </p:nvPicPr>
        <p:blipFill>
          <a:blip r:embed="rId4"/>
          <a:stretch>
            <a:fillRect/>
          </a:stretch>
        </p:blipFill>
        <p:spPr>
          <a:xfrm>
            <a:off x="5997313" y="1177268"/>
            <a:ext cx="2638108" cy="3342596"/>
          </a:xfrm>
          <a:prstGeom prst="rect">
            <a:avLst/>
          </a:prstGeom>
        </p:spPr>
      </p:pic>
      <p:pic>
        <p:nvPicPr>
          <p:cNvPr id="7" name="Image 4" descr="preencoded.png"/>
          <p:cNvPicPr>
            <a:picLocks noChangeAspect="1"/>
          </p:cNvPicPr>
          <p:nvPr/>
        </p:nvPicPr>
        <p:blipFill>
          <a:blip r:embed="rId5"/>
          <a:stretch>
            <a:fillRect/>
          </a:stretch>
        </p:blipFill>
        <p:spPr>
          <a:xfrm flipH="1">
            <a:off x="508580" y="1177268"/>
            <a:ext cx="2610676" cy="3342596"/>
          </a:xfrm>
          <a:prstGeom prst="rect">
            <a:avLst/>
          </a:prstGeom>
        </p:spPr>
      </p:pic>
      <p:sp>
        <p:nvSpPr>
          <p:cNvPr id="8" name="Text 1"/>
          <p:cNvSpPr/>
          <p:nvPr/>
        </p:nvSpPr>
        <p:spPr>
          <a:xfrm>
            <a:off x="491221" y="1480874"/>
            <a:ext cx="2566799" cy="1308910"/>
          </a:xfrm>
          <a:prstGeom prst="rect">
            <a:avLst/>
          </a:prstGeom>
          <a:noFill/>
          <a:ln/>
        </p:spPr>
        <p:txBody>
          <a:bodyPr wrap="square" lIns="95250" tIns="95250" rIns="95250" bIns="95250" rtlCol="0" anchor="ctr"/>
          <a:lstStyle/>
          <a:p>
            <a:pPr algn="ctr">
              <a:spcBef>
                <a:spcPts val="375"/>
              </a:spcBef>
            </a:pPr>
            <a:r>
              <a:rPr lang="en-US" sz="1600" b="1" dirty="0">
                <a:solidFill>
                  <a:srgbClr val="FFFFFF"/>
                </a:solidFill>
                <a:latin typeface="Noto Sans SC" pitchFamily="34" charset="0"/>
                <a:ea typeface="Noto Sans SC" pitchFamily="34" charset="-122"/>
                <a:cs typeface="Noto Sans SC" pitchFamily="34" charset="-120"/>
              </a:rPr>
              <a:t>Designing an accurate matching algorithm without overcomplicating  it</a:t>
            </a:r>
            <a:endParaRPr lang="en-US" sz="1600" dirty="0"/>
          </a:p>
        </p:txBody>
      </p:sp>
      <p:sp>
        <p:nvSpPr>
          <p:cNvPr id="10" name="Text 2"/>
          <p:cNvSpPr/>
          <p:nvPr/>
        </p:nvSpPr>
        <p:spPr>
          <a:xfrm>
            <a:off x="627076" y="2596243"/>
            <a:ext cx="2378062" cy="1588320"/>
          </a:xfrm>
          <a:prstGeom prst="rect">
            <a:avLst/>
          </a:prstGeom>
          <a:noFill/>
          <a:ln/>
        </p:spPr>
        <p:txBody>
          <a:bodyPr wrap="square" lIns="95250" tIns="95250" rIns="95250" bIns="95250" rtlCol="0" anchor="t">
            <a:spAutoFit/>
          </a:bodyPr>
          <a:lstStyle/>
          <a:p>
            <a:pPr algn="ctr">
              <a:spcBef>
                <a:spcPts val="375"/>
              </a:spcBef>
            </a:pPr>
            <a:r>
              <a:rPr lang="en-US" sz="1008" dirty="0">
                <a:solidFill>
                  <a:srgbClr val="FFFFFF"/>
                </a:solidFill>
                <a:latin typeface="Noto Sans SC" pitchFamily="34" charset="0"/>
                <a:ea typeface="Noto Sans SC" pitchFamily="34" charset="-122"/>
                <a:cs typeface="Noto Sans SC" pitchFamily="34" charset="-120"/>
              </a:rPr>
              <a:t>We wanted the logic to reflect real compatibility, but at the same time remain explainable, scalable, and efficient. Over-engineering the algorithm could reduce transparency and slow the system, so we focused on a balanced approach that captures personality alignment and preferences while keeping the model understandable and scalable.</a:t>
            </a:r>
            <a:endParaRPr lang="en-US" sz="1440" dirty="0"/>
          </a:p>
        </p:txBody>
      </p:sp>
      <p:sp>
        <p:nvSpPr>
          <p:cNvPr id="11" name="Shape 3"/>
          <p:cNvSpPr/>
          <p:nvPr/>
        </p:nvSpPr>
        <p:spPr>
          <a:xfrm>
            <a:off x="2996572" y="1137421"/>
            <a:ext cx="3123424" cy="3422290"/>
          </a:xfrm>
          <a:custGeom>
            <a:avLst/>
            <a:gdLst/>
            <a:ahLst/>
            <a:cxnLst/>
            <a:rect l="l" t="t" r="r" b="b"/>
            <a:pathLst>
              <a:path w="3123424" h="3422290">
                <a:moveTo>
                  <a:pt x="0" y="0"/>
                </a:moveTo>
                <a:moveTo>
                  <a:pt x="0" y="0"/>
                </a:moveTo>
                <a:lnTo>
                  <a:pt x="3123424" y="0"/>
                </a:lnTo>
                <a:lnTo>
                  <a:pt x="3123424" y="3422290"/>
                </a:lnTo>
                <a:lnTo>
                  <a:pt x="0" y="3422290"/>
                </a:lnTo>
                <a:close/>
              </a:path>
            </a:pathLst>
          </a:custGeom>
          <a:solidFill>
            <a:srgbClr val="6764FB"/>
          </a:solidFill>
          <a:ln/>
        </p:spPr>
        <p:txBody>
          <a:bodyPr/>
          <a:lstStyle/>
          <a:p>
            <a:endParaRPr lang="en-US"/>
          </a:p>
        </p:txBody>
      </p:sp>
      <p:sp>
        <p:nvSpPr>
          <p:cNvPr id="12" name="Text 4"/>
          <p:cNvSpPr/>
          <p:nvPr/>
        </p:nvSpPr>
        <p:spPr>
          <a:xfrm>
            <a:off x="3198487" y="1752646"/>
            <a:ext cx="2719592" cy="571368"/>
          </a:xfrm>
          <a:prstGeom prst="rect">
            <a:avLst/>
          </a:prstGeom>
          <a:noFill/>
          <a:ln/>
        </p:spPr>
        <p:txBody>
          <a:bodyPr wrap="square" lIns="95250" tIns="95250" rIns="95250" bIns="95250" rtlCol="0" anchor="ctr"/>
          <a:lstStyle/>
          <a:p>
            <a:pPr algn="ctr">
              <a:spcBef>
                <a:spcPts val="375"/>
              </a:spcBef>
            </a:pPr>
            <a:r>
              <a:rPr lang="en-US" sz="1600" b="1" dirty="0">
                <a:solidFill>
                  <a:srgbClr val="FFFFFF"/>
                </a:solidFill>
                <a:latin typeface="Noto Sans SC" pitchFamily="34" charset="0"/>
                <a:ea typeface="Noto Sans SC" pitchFamily="34" charset="-122"/>
                <a:cs typeface="Noto Sans SC" pitchFamily="34" charset="-120"/>
              </a:rPr>
              <a:t>Balancing AI guidance with natural, human conversations</a:t>
            </a:r>
            <a:endParaRPr lang="en-US" sz="1600" dirty="0"/>
          </a:p>
        </p:txBody>
      </p:sp>
      <p:sp>
        <p:nvSpPr>
          <p:cNvPr id="14" name="Text 5"/>
          <p:cNvSpPr/>
          <p:nvPr/>
        </p:nvSpPr>
        <p:spPr>
          <a:xfrm>
            <a:off x="3400185" y="2417759"/>
            <a:ext cx="2316195" cy="1588320"/>
          </a:xfrm>
          <a:prstGeom prst="rect">
            <a:avLst/>
          </a:prstGeom>
          <a:noFill/>
          <a:ln/>
        </p:spPr>
        <p:txBody>
          <a:bodyPr wrap="square" lIns="95250" tIns="95250" rIns="95250" bIns="95250" rtlCol="0" anchor="t">
            <a:spAutoFit/>
          </a:bodyPr>
          <a:lstStyle/>
          <a:p>
            <a:pPr algn="ctr">
              <a:spcBef>
                <a:spcPts val="375"/>
              </a:spcBef>
            </a:pPr>
            <a:r>
              <a:rPr lang="en-US" sz="1008" dirty="0">
                <a:solidFill>
                  <a:srgbClr val="FFFFFF"/>
                </a:solidFill>
                <a:latin typeface="Noto Sans SC" pitchFamily="34" charset="0"/>
                <a:ea typeface="Noto Sans SC" pitchFamily="34" charset="-122"/>
                <a:cs typeface="Noto Sans SC" pitchFamily="34" charset="-120"/>
              </a:rPr>
              <a:t>The AI is designed to understand how people communicate and to adjust its tone accordingly, so it feels supportive rather than intrusive or intimidating. The goal was for the AI to guide conversations in a calm, reassuring way, helping users express themselves without making the interaction feel artificial or overwhelming.</a:t>
            </a:r>
            <a:endParaRPr lang="en-US" sz="1440" dirty="0"/>
          </a:p>
        </p:txBody>
      </p:sp>
      <p:sp>
        <p:nvSpPr>
          <p:cNvPr id="15" name="Text 6"/>
          <p:cNvSpPr/>
          <p:nvPr/>
        </p:nvSpPr>
        <p:spPr>
          <a:xfrm>
            <a:off x="6188444" y="1931866"/>
            <a:ext cx="2344566" cy="731520"/>
          </a:xfrm>
          <a:prstGeom prst="rect">
            <a:avLst/>
          </a:prstGeom>
          <a:noFill/>
          <a:ln/>
        </p:spPr>
        <p:txBody>
          <a:bodyPr wrap="square" lIns="95250" tIns="95250" rIns="95250" bIns="95250" rtlCol="0" anchor="ctr"/>
          <a:lstStyle/>
          <a:p>
            <a:pPr algn="ctr">
              <a:spcBef>
                <a:spcPts val="375"/>
              </a:spcBef>
            </a:pPr>
            <a:r>
              <a:rPr lang="en-US" sz="1600" b="1" dirty="0">
                <a:solidFill>
                  <a:srgbClr val="FFFFFF"/>
                </a:solidFill>
                <a:latin typeface="Noto Sans SC" pitchFamily="34" charset="0"/>
                <a:ea typeface="Noto Sans SC" pitchFamily="34" charset="-122"/>
                <a:cs typeface="Noto Sans SC" pitchFamily="34" charset="-120"/>
              </a:rPr>
              <a:t>Avoiding generic or repetitive chatbot responses</a:t>
            </a:r>
            <a:endParaRPr lang="en-US" sz="1600" dirty="0"/>
          </a:p>
        </p:txBody>
      </p:sp>
      <p:sp>
        <p:nvSpPr>
          <p:cNvPr id="17" name="Text 7"/>
          <p:cNvSpPr/>
          <p:nvPr/>
        </p:nvSpPr>
        <p:spPr>
          <a:xfrm>
            <a:off x="6290855" y="2596243"/>
            <a:ext cx="2139744" cy="1588320"/>
          </a:xfrm>
          <a:prstGeom prst="rect">
            <a:avLst/>
          </a:prstGeom>
          <a:noFill/>
          <a:ln/>
        </p:spPr>
        <p:txBody>
          <a:bodyPr wrap="square" lIns="95250" tIns="95250" rIns="95250" bIns="95250" rtlCol="0" anchor="t">
            <a:spAutoFit/>
          </a:bodyPr>
          <a:lstStyle/>
          <a:p>
            <a:pPr algn="ctr">
              <a:spcBef>
                <a:spcPts val="375"/>
              </a:spcBef>
            </a:pPr>
            <a:r>
              <a:rPr lang="en-US" sz="1008" dirty="0">
                <a:solidFill>
                  <a:srgbClr val="FFFFFF"/>
                </a:solidFill>
                <a:latin typeface="Noto Sans SC" pitchFamily="34" charset="0"/>
                <a:ea typeface="Noto Sans SC" pitchFamily="34" charset="-122"/>
                <a:cs typeface="Noto Sans SC" pitchFamily="34" charset="-120"/>
              </a:rPr>
              <a:t>Repetition quickly breaks trust and engagement. To address this, we focused on maintaining conversational context and adapting responses based on the user’s behavior and previous interactions, ensuring that conversations feel dynamic, relevant, and personalized over time.</a:t>
            </a:r>
            <a:endParaRPr lang="en-US" sz="144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415396" y="1666794"/>
            <a:ext cx="4313208" cy="1007712"/>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5040" b="1" dirty="0">
                <a:solidFill>
                  <a:srgbClr val="D46FFF"/>
                </a:solidFill>
                <a:latin typeface="Noto Sans" pitchFamily="34" charset="0"/>
                <a:ea typeface="Noto Sans" pitchFamily="34" charset="-122"/>
                <a:cs typeface="Noto Sans" pitchFamily="34" charset="-120"/>
              </a:rPr>
              <a:t>Thank you！</a:t>
            </a:r>
            <a:endParaRPr lang="en-US" sz="1440"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266</TotalTime>
  <Words>331</Words>
  <Application>Microsoft Office PowerPoint</Application>
  <PresentationFormat>On-screen Show (16:9)</PresentationFormat>
  <Paragraphs>72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Noto Sans</vt:lpstr>
      <vt:lpstr>Noto Sans SC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Bader Merheb</cp:lastModifiedBy>
  <cp:revision>3</cp:revision>
  <dcterms:created xsi:type="dcterms:W3CDTF">2025-12-14T14:57:23Z</dcterms:created>
  <dcterms:modified xsi:type="dcterms:W3CDTF">2025-12-15T13:13:26Z</dcterms:modified>
</cp:coreProperties>
</file>